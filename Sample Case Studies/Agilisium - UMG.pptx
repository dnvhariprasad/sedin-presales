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964602-B868-FC62-F4AE-FFEE7758408E}" v="11" dt="2025-05-15T10:46:58.2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2.xml"/><Relationship Id="rId5" Type="http://schemas.openxmlformats.org/officeDocument/2006/relationships/viewProps" Target="viewProps.xml"/><Relationship Id="rId10" Type="http://schemas.openxmlformats.org/officeDocument/2006/relationships/customXml" Target="../customXml/item1.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chana Beny" userId="S::archana@sedintechnologies.com::289fbc0e-ad13-4ae0-b425-a6d2d615eeb0" providerId="AD" clId="Web-{627FF5CE-D754-275F-9AD0-63FDE38F0E9E}"/>
    <pc:docChg chg="modSld">
      <pc:chgData name="Archana Beny" userId="S::archana@sedintechnologies.com::289fbc0e-ad13-4ae0-b425-a6d2d615eeb0" providerId="AD" clId="Web-{627FF5CE-D754-275F-9AD0-63FDE38F0E9E}" dt="2025-04-25T11:49:21.721" v="7" actId="1076"/>
      <pc:docMkLst>
        <pc:docMk/>
      </pc:docMkLst>
      <pc:sldChg chg="addSp modSp">
        <pc:chgData name="Archana Beny" userId="S::archana@sedintechnologies.com::289fbc0e-ad13-4ae0-b425-a6d2d615eeb0" providerId="AD" clId="Web-{627FF5CE-D754-275F-9AD0-63FDE38F0E9E}" dt="2025-04-25T11:49:21.721" v="7" actId="1076"/>
        <pc:sldMkLst>
          <pc:docMk/>
          <pc:sldMk cId="109857222" sldId="256"/>
        </pc:sldMkLst>
        <pc:picChg chg="add mod modCrop">
          <ac:chgData name="Archana Beny" userId="S::archana@sedintechnologies.com::289fbc0e-ad13-4ae0-b425-a6d2d615eeb0" providerId="AD" clId="Web-{627FF5CE-D754-275F-9AD0-63FDE38F0E9E}" dt="2025-04-25T11:49:21.721" v="7" actId="1076"/>
          <ac:picMkLst>
            <pc:docMk/>
            <pc:sldMk cId="109857222" sldId="256"/>
            <ac:picMk id="11" creationId="{2D4BA936-DFAC-A1DB-D1D9-056EB21DBBA7}"/>
          </ac:picMkLst>
        </pc:picChg>
      </pc:sldChg>
    </pc:docChg>
  </pc:docChgLst>
  <pc:docChgLst>
    <pc:chgData name="Archana Beny" userId="S::archana@sedintechnologies.com::289fbc0e-ad13-4ae0-b425-a6d2d615eeb0" providerId="AD" clId="Web-{CBD6EECB-6FF5-0846-2B14-00F672C8F1C8}"/>
    <pc:docChg chg="modSld">
      <pc:chgData name="Archana Beny" userId="S::archana@sedintechnologies.com::289fbc0e-ad13-4ae0-b425-a6d2d615eeb0" providerId="AD" clId="Web-{CBD6EECB-6FF5-0846-2B14-00F672C8F1C8}" dt="2025-04-15T08:03:55.035" v="228" actId="1076"/>
      <pc:docMkLst>
        <pc:docMk/>
      </pc:docMkLst>
      <pc:sldChg chg="addSp delSp modSp">
        <pc:chgData name="Archana Beny" userId="S::archana@sedintechnologies.com::289fbc0e-ad13-4ae0-b425-a6d2d615eeb0" providerId="AD" clId="Web-{CBD6EECB-6FF5-0846-2B14-00F672C8F1C8}" dt="2025-04-15T08:03:55.035" v="228" actId="1076"/>
        <pc:sldMkLst>
          <pc:docMk/>
          <pc:sldMk cId="109857222" sldId="256"/>
        </pc:sldMkLst>
        <pc:spChg chg="mod">
          <ac:chgData name="Archana Beny" userId="S::archana@sedintechnologies.com::289fbc0e-ad13-4ae0-b425-a6d2d615eeb0" providerId="AD" clId="Web-{CBD6EECB-6FF5-0846-2B14-00F672C8F1C8}" dt="2025-04-15T07:25:29.888" v="25" actId="20577"/>
          <ac:spMkLst>
            <pc:docMk/>
            <pc:sldMk cId="109857222" sldId="256"/>
            <ac:spMk id="4" creationId="{F9BC7766-A1BF-EEAF-006D-A63DE544C18B}"/>
          </ac:spMkLst>
        </pc:spChg>
        <pc:spChg chg="mod">
          <ac:chgData name="Archana Beny" userId="S::archana@sedintechnologies.com::289fbc0e-ad13-4ae0-b425-a6d2d615eeb0" providerId="AD" clId="Web-{CBD6EECB-6FF5-0846-2B14-00F672C8F1C8}" dt="2025-04-15T07:25:00.763" v="23" actId="20577"/>
          <ac:spMkLst>
            <pc:docMk/>
            <pc:sldMk cId="109857222" sldId="256"/>
            <ac:spMk id="5" creationId="{59D9132C-8658-C386-5E95-061E37F43407}"/>
          </ac:spMkLst>
        </pc:spChg>
        <pc:spChg chg="mod">
          <ac:chgData name="Archana Beny" userId="S::archana@sedintechnologies.com::289fbc0e-ad13-4ae0-b425-a6d2d615eeb0" providerId="AD" clId="Web-{CBD6EECB-6FF5-0846-2B14-00F672C8F1C8}" dt="2025-04-15T07:45:53.486" v="130" actId="20577"/>
          <ac:spMkLst>
            <pc:docMk/>
            <pc:sldMk cId="109857222" sldId="256"/>
            <ac:spMk id="7" creationId="{EEAE063F-BB85-9905-8310-69FCD436CF0D}"/>
          </ac:spMkLst>
        </pc:spChg>
        <pc:spChg chg="mod">
          <ac:chgData name="Archana Beny" userId="S::archana@sedintechnologies.com::289fbc0e-ad13-4ae0-b425-a6d2d615eeb0" providerId="AD" clId="Web-{CBD6EECB-6FF5-0846-2B14-00F672C8F1C8}" dt="2025-04-15T07:45:22.548" v="118" actId="20577"/>
          <ac:spMkLst>
            <pc:docMk/>
            <pc:sldMk cId="109857222" sldId="256"/>
            <ac:spMk id="10" creationId="{019991EE-5594-40D1-7635-10D3A6F56987}"/>
          </ac:spMkLst>
        </pc:spChg>
        <pc:spChg chg="mod">
          <ac:chgData name="Archana Beny" userId="S::archana@sedintechnologies.com::289fbc0e-ad13-4ae0-b425-a6d2d615eeb0" providerId="AD" clId="Web-{CBD6EECB-6FF5-0846-2B14-00F672C8F1C8}" dt="2025-04-15T07:49:25.661" v="166" actId="20577"/>
          <ac:spMkLst>
            <pc:docMk/>
            <pc:sldMk cId="109857222" sldId="256"/>
            <ac:spMk id="15" creationId="{C0025218-0537-2010-C5B7-D07A87C28D5A}"/>
          </ac:spMkLst>
        </pc:spChg>
        <pc:spChg chg="mod">
          <ac:chgData name="Archana Beny" userId="S::archana@sedintechnologies.com::289fbc0e-ad13-4ae0-b425-a6d2d615eeb0" providerId="AD" clId="Web-{CBD6EECB-6FF5-0846-2B14-00F672C8F1C8}" dt="2025-04-15T07:53:15.884" v="202" actId="20577"/>
          <ac:spMkLst>
            <pc:docMk/>
            <pc:sldMk cId="109857222" sldId="256"/>
            <ac:spMk id="18" creationId="{4C092188-F9D6-0F9A-8910-3130B775973D}"/>
          </ac:spMkLst>
        </pc:spChg>
        <pc:picChg chg="add mod">
          <ac:chgData name="Archana Beny" userId="S::archana@sedintechnologies.com::289fbc0e-ad13-4ae0-b425-a6d2d615eeb0" providerId="AD" clId="Web-{CBD6EECB-6FF5-0846-2B14-00F672C8F1C8}" dt="2025-04-15T07:54:02.119" v="211" actId="1076"/>
          <ac:picMkLst>
            <pc:docMk/>
            <pc:sldMk cId="109857222" sldId="256"/>
            <ac:picMk id="2" creationId="{6F33012B-FA47-488A-C2B2-2F775A0D5EEF}"/>
          </ac:picMkLst>
        </pc:picChg>
        <pc:picChg chg="add mod">
          <ac:chgData name="Archana Beny" userId="S::archana@sedintechnologies.com::289fbc0e-ad13-4ae0-b425-a6d2d615eeb0" providerId="AD" clId="Web-{CBD6EECB-6FF5-0846-2B14-00F672C8F1C8}" dt="2025-04-15T07:54:46.104" v="214" actId="1076"/>
          <ac:picMkLst>
            <pc:docMk/>
            <pc:sldMk cId="109857222" sldId="256"/>
            <ac:picMk id="3" creationId="{AF22E25A-CA78-AFB4-D7A5-DFE6E408C751}"/>
          </ac:picMkLst>
        </pc:picChg>
        <pc:picChg chg="add del mod">
          <ac:chgData name="Archana Beny" userId="S::archana@sedintechnologies.com::289fbc0e-ad13-4ae0-b425-a6d2d615eeb0" providerId="AD" clId="Web-{CBD6EECB-6FF5-0846-2B14-00F672C8F1C8}" dt="2025-04-15T07:56:06.309" v="218"/>
          <ac:picMkLst>
            <pc:docMk/>
            <pc:sldMk cId="109857222" sldId="256"/>
            <ac:picMk id="11" creationId="{6CE47A28-D97C-C51A-58F7-BA07BE3D9EBD}"/>
          </ac:picMkLst>
        </pc:picChg>
        <pc:picChg chg="del">
          <ac:chgData name="Archana Beny" userId="S::archana@sedintechnologies.com::289fbc0e-ad13-4ae0-b425-a6d2d615eeb0" providerId="AD" clId="Web-{CBD6EECB-6FF5-0846-2B14-00F672C8F1C8}" dt="2025-04-15T07:53:20.337" v="208"/>
          <ac:picMkLst>
            <pc:docMk/>
            <pc:sldMk cId="109857222" sldId="256"/>
            <ac:picMk id="13" creationId="{A88A8D69-E6FE-2207-3A84-8B5F76A624E9}"/>
          </ac:picMkLst>
        </pc:picChg>
        <pc:picChg chg="del">
          <ac:chgData name="Archana Beny" userId="S::archana@sedintechnologies.com::289fbc0e-ad13-4ae0-b425-a6d2d615eeb0" providerId="AD" clId="Web-{CBD6EECB-6FF5-0846-2B14-00F672C8F1C8}" dt="2025-04-15T07:53:20.337" v="207"/>
          <ac:picMkLst>
            <pc:docMk/>
            <pc:sldMk cId="109857222" sldId="256"/>
            <ac:picMk id="14" creationId="{B91E8A15-7A84-2EE1-3016-4AA37341ABE4}"/>
          </ac:picMkLst>
        </pc:picChg>
        <pc:picChg chg="add mod">
          <ac:chgData name="Archana Beny" userId="S::archana@sedintechnologies.com::289fbc0e-ad13-4ae0-b425-a6d2d615eeb0" providerId="AD" clId="Web-{CBD6EECB-6FF5-0846-2B14-00F672C8F1C8}" dt="2025-04-15T07:56:50.450" v="225" actId="1076"/>
          <ac:picMkLst>
            <pc:docMk/>
            <pc:sldMk cId="109857222" sldId="256"/>
            <ac:picMk id="19" creationId="{6CB6262D-DBA5-3421-0DF3-A372903F0844}"/>
          </ac:picMkLst>
        </pc:picChg>
        <pc:picChg chg="add mod">
          <ac:chgData name="Archana Beny" userId="S::archana@sedintechnologies.com::289fbc0e-ad13-4ae0-b425-a6d2d615eeb0" providerId="AD" clId="Web-{CBD6EECB-6FF5-0846-2B14-00F672C8F1C8}" dt="2025-04-15T08:03:55.035" v="228" actId="1076"/>
          <ac:picMkLst>
            <pc:docMk/>
            <pc:sldMk cId="109857222" sldId="256"/>
            <ac:picMk id="20" creationId="{811D6C8E-2DE5-6289-083B-214BCA28EA42}"/>
          </ac:picMkLst>
        </pc:picChg>
        <pc:picChg chg="del">
          <ac:chgData name="Archana Beny" userId="S::archana@sedintechnologies.com::289fbc0e-ad13-4ae0-b425-a6d2d615eeb0" providerId="AD" clId="Web-{CBD6EECB-6FF5-0846-2B14-00F672C8F1C8}" dt="2025-04-15T07:53:20.337" v="206"/>
          <ac:picMkLst>
            <pc:docMk/>
            <pc:sldMk cId="109857222" sldId="256"/>
            <ac:picMk id="23" creationId="{6818CE76-17B1-DC69-429D-66D82AE6575D}"/>
          </ac:picMkLst>
        </pc:picChg>
        <pc:picChg chg="del">
          <ac:chgData name="Archana Beny" userId="S::archana@sedintechnologies.com::289fbc0e-ad13-4ae0-b425-a6d2d615eeb0" providerId="AD" clId="Web-{CBD6EECB-6FF5-0846-2B14-00F672C8F1C8}" dt="2025-04-15T07:53:20.337" v="205"/>
          <ac:picMkLst>
            <pc:docMk/>
            <pc:sldMk cId="109857222" sldId="256"/>
            <ac:picMk id="24" creationId="{0F56482F-F760-2CE1-632E-7FFB26FFBEAD}"/>
          </ac:picMkLst>
        </pc:picChg>
        <pc:picChg chg="del">
          <ac:chgData name="Archana Beny" userId="S::archana@sedintechnologies.com::289fbc0e-ad13-4ae0-b425-a6d2d615eeb0" providerId="AD" clId="Web-{CBD6EECB-6FF5-0846-2B14-00F672C8F1C8}" dt="2025-04-15T07:53:20.337" v="204"/>
          <ac:picMkLst>
            <pc:docMk/>
            <pc:sldMk cId="109857222" sldId="256"/>
            <ac:picMk id="25" creationId="{A663E2C7-501C-2EA3-6ABF-227A6B47B67E}"/>
          </ac:picMkLst>
        </pc:picChg>
        <pc:picChg chg="del">
          <ac:chgData name="Archana Beny" userId="S::archana@sedintechnologies.com::289fbc0e-ad13-4ae0-b425-a6d2d615eeb0" providerId="AD" clId="Web-{CBD6EECB-6FF5-0846-2B14-00F672C8F1C8}" dt="2025-04-15T07:53:20.337" v="203"/>
          <ac:picMkLst>
            <pc:docMk/>
            <pc:sldMk cId="109857222" sldId="256"/>
            <ac:picMk id="26" creationId="{B50F63F9-F539-4600-D8BA-5A6DD2276B29}"/>
          </ac:picMkLst>
        </pc:picChg>
      </pc:sldChg>
    </pc:docChg>
  </pc:docChgLst>
  <pc:docChgLst>
    <pc:chgData name="Archana Beny" userId="S::archana@sedintechnologies.com::289fbc0e-ad13-4ae0-b425-a6d2d615eeb0" providerId="AD" clId="Web-{1CDC2926-489B-A0BD-0F0C-5FE1DBE8DE89}"/>
    <pc:docChg chg="modSld">
      <pc:chgData name="Archana Beny" userId="S::archana@sedintechnologies.com::289fbc0e-ad13-4ae0-b425-a6d2d615eeb0" providerId="AD" clId="Web-{1CDC2926-489B-A0BD-0F0C-5FE1DBE8DE89}" dt="2025-04-25T10:52:30.747" v="0"/>
      <pc:docMkLst>
        <pc:docMk/>
      </pc:docMkLst>
      <pc:sldChg chg="delSp">
        <pc:chgData name="Archana Beny" userId="S::archana@sedintechnologies.com::289fbc0e-ad13-4ae0-b425-a6d2d615eeb0" providerId="AD" clId="Web-{1CDC2926-489B-A0BD-0F0C-5FE1DBE8DE89}" dt="2025-04-25T10:52:30.747" v="0"/>
        <pc:sldMkLst>
          <pc:docMk/>
          <pc:sldMk cId="109857222" sldId="256"/>
        </pc:sldMkLst>
        <pc:picChg chg="del">
          <ac:chgData name="Archana Beny" userId="S::archana@sedintechnologies.com::289fbc0e-ad13-4ae0-b425-a6d2d615eeb0" providerId="AD" clId="Web-{1CDC2926-489B-A0BD-0F0C-5FE1DBE8DE89}" dt="2025-04-25T10:52:30.747" v="0"/>
          <ac:picMkLst>
            <pc:docMk/>
            <pc:sldMk cId="109857222" sldId="256"/>
            <ac:picMk id="27" creationId="{629D5BD2-64CD-E044-F158-026CE18D8682}"/>
          </ac:picMkLst>
        </pc:picChg>
      </pc:sldChg>
    </pc:docChg>
  </pc:docChgLst>
  <pc:docChgLst>
    <pc:chgData name="Venkat Sharma B M" userId="S::venkatsharma@sedintechnologies.com::421eef6c-a78d-4201-810e-874725247fa1" providerId="AD" clId="Web-{BE964602-B868-FC62-F4AE-FFEE7758408E}"/>
    <pc:docChg chg="modSld">
      <pc:chgData name="Venkat Sharma B M" userId="S::venkatsharma@sedintechnologies.com::421eef6c-a78d-4201-810e-874725247fa1" providerId="AD" clId="Web-{BE964602-B868-FC62-F4AE-FFEE7758408E}" dt="2025-05-15T10:46:57.332" v="5" actId="20577"/>
      <pc:docMkLst>
        <pc:docMk/>
      </pc:docMkLst>
      <pc:sldChg chg="modSp">
        <pc:chgData name="Venkat Sharma B M" userId="S::venkatsharma@sedintechnologies.com::421eef6c-a78d-4201-810e-874725247fa1" providerId="AD" clId="Web-{BE964602-B868-FC62-F4AE-FFEE7758408E}" dt="2025-05-15T10:46:57.332" v="5" actId="20577"/>
        <pc:sldMkLst>
          <pc:docMk/>
          <pc:sldMk cId="109857222" sldId="256"/>
        </pc:sldMkLst>
        <pc:spChg chg="mod">
          <ac:chgData name="Venkat Sharma B M" userId="S::venkatsharma@sedintechnologies.com::421eef6c-a78d-4201-810e-874725247fa1" providerId="AD" clId="Web-{BE964602-B868-FC62-F4AE-FFEE7758408E}" dt="2025-05-15T10:46:52.692" v="2" actId="20577"/>
          <ac:spMkLst>
            <pc:docMk/>
            <pc:sldMk cId="109857222" sldId="256"/>
            <ac:spMk id="7" creationId="{EEAE063F-BB85-9905-8310-69FCD436CF0D}"/>
          </ac:spMkLst>
        </pc:spChg>
        <pc:spChg chg="mod">
          <ac:chgData name="Venkat Sharma B M" userId="S::venkatsharma@sedintechnologies.com::421eef6c-a78d-4201-810e-874725247fa1" providerId="AD" clId="Web-{BE964602-B868-FC62-F4AE-FFEE7758408E}" dt="2025-05-15T10:46:57.332" v="5" actId="20577"/>
          <ac:spMkLst>
            <pc:docMk/>
            <pc:sldMk cId="109857222" sldId="256"/>
            <ac:spMk id="15" creationId="{C0025218-0537-2010-C5B7-D07A87C28D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8F7A9-8BF9-4728-8210-6BEBE0856D92}" type="datetimeFigureOut">
              <a:t>5/15/2025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0479E-3258-414E-9B7D-56174DD182A1}" type="slidenum">
              <a:t>‹#›</a:t>
            </a:fld>
            <a:endParaRPr lang="en-US"/>
          </a:p>
        </p:txBody>
      </p:sp>
    </p:spTree>
    <p:extLst>
      <p:ext uri="{BB962C8B-B14F-4D97-AF65-F5344CB8AC3E}">
        <p14:creationId xmlns:p14="http://schemas.microsoft.com/office/powerpoint/2010/main" val="2688011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ea typeface="Calibri"/>
                <a:cs typeface="Calibri"/>
              </a:rPr>
              <a:t>Is travel expense management a sub category within expense management – then we can combine</a:t>
            </a:r>
          </a:p>
          <a:p>
            <a:pPr marL="171450" indent="-171450">
              <a:buFont typeface="Calibri"/>
              <a:buChar char="-"/>
            </a:pPr>
            <a:r>
              <a:rPr lang="en-US">
                <a:ea typeface="Calibri"/>
                <a:cs typeface="Calibri"/>
              </a:rPr>
              <a:t>May be this is Accounts Payable management and not just. Expense management – Please check</a:t>
            </a:r>
          </a:p>
        </p:txBody>
      </p:sp>
      <p:sp>
        <p:nvSpPr>
          <p:cNvPr id="4" name="Slide Number Placeholder 3"/>
          <p:cNvSpPr>
            <a:spLocks noGrp="1"/>
          </p:cNvSpPr>
          <p:nvPr>
            <p:ph type="sldNum" sz="quarter" idx="5"/>
          </p:nvPr>
        </p:nvSpPr>
        <p:spPr/>
        <p:txBody>
          <a:bodyPr/>
          <a:lstStyle/>
          <a:p>
            <a:fld id="{FE20479E-3258-414E-9B7D-56174DD182A1}" type="slidenum">
              <a:t>1</a:t>
            </a:fld>
            <a:endParaRPr lang="en-US"/>
          </a:p>
        </p:txBody>
      </p:sp>
    </p:spTree>
    <p:extLst>
      <p:ext uri="{BB962C8B-B14F-4D97-AF65-F5344CB8AC3E}">
        <p14:creationId xmlns:p14="http://schemas.microsoft.com/office/powerpoint/2010/main" val="4286206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6;p13">
            <a:extLst>
              <a:ext uri="{FF2B5EF4-FFF2-40B4-BE49-F238E27FC236}">
                <a16:creationId xmlns:a16="http://schemas.microsoft.com/office/drawing/2014/main" id="{F9BC7766-A1BF-EEAF-006D-A63DE544C18B}"/>
              </a:ext>
            </a:extLst>
          </p:cNvPr>
          <p:cNvSpPr txBox="1"/>
          <p:nvPr/>
        </p:nvSpPr>
        <p:spPr>
          <a:xfrm>
            <a:off x="300390" y="709811"/>
            <a:ext cx="11589858" cy="369332"/>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1200" b="1">
                <a:solidFill>
                  <a:schemeClr val="dk1"/>
                </a:solidFill>
                <a:ea typeface="+mn-lt"/>
                <a:cs typeface="+mn-lt"/>
              </a:rPr>
              <a:t>Universal Music Group (UMG)</a:t>
            </a:r>
            <a:r>
              <a:rPr lang="en" sz="1200">
                <a:solidFill>
                  <a:schemeClr val="dk1"/>
                </a:solidFill>
                <a:ea typeface="+mn-lt"/>
                <a:cs typeface="+mn-lt"/>
              </a:rPr>
              <a:t> is one of the world’s leading music companies, representing a vast roster of global artists across various genres. With a massive fanbase and merchandise demand, UMG operates over </a:t>
            </a:r>
            <a:r>
              <a:rPr lang="en" sz="1200" b="1">
                <a:solidFill>
                  <a:schemeClr val="dk1"/>
                </a:solidFill>
                <a:ea typeface="+mn-lt"/>
                <a:cs typeface="+mn-lt"/>
              </a:rPr>
              <a:t>900 artist-specific online stores</a:t>
            </a:r>
            <a:r>
              <a:rPr lang="en" sz="1200">
                <a:solidFill>
                  <a:schemeClr val="dk1"/>
                </a:solidFill>
                <a:ea typeface="+mn-lt"/>
                <a:cs typeface="+mn-lt"/>
              </a:rPr>
              <a:t>, offering localized shopping experiences worldwide.</a:t>
            </a:r>
            <a:endParaRPr lang="en-US">
              <a:solidFill>
                <a:schemeClr val="dk1"/>
              </a:solidFill>
              <a:ea typeface="+mn-lt"/>
              <a:cs typeface="+mn-lt"/>
            </a:endParaRPr>
          </a:p>
        </p:txBody>
      </p:sp>
      <p:sp>
        <p:nvSpPr>
          <p:cNvPr id="5" name="Google Shape;59;p13">
            <a:extLst>
              <a:ext uri="{FF2B5EF4-FFF2-40B4-BE49-F238E27FC236}">
                <a16:creationId xmlns:a16="http://schemas.microsoft.com/office/drawing/2014/main" id="{59D9132C-8658-C386-5E95-061E37F43407}"/>
              </a:ext>
            </a:extLst>
          </p:cNvPr>
          <p:cNvSpPr txBox="1"/>
          <p:nvPr/>
        </p:nvSpPr>
        <p:spPr>
          <a:xfrm>
            <a:off x="287690" y="166294"/>
            <a:ext cx="10492477" cy="307777"/>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2000" b="1" err="1">
                <a:solidFill>
                  <a:schemeClr val="dk1"/>
                </a:solidFill>
                <a:latin typeface="Aptos Display"/>
              </a:rPr>
              <a:t>Agilisium</a:t>
            </a:r>
            <a:r>
              <a:rPr lang="en" sz="2000" b="1">
                <a:solidFill>
                  <a:schemeClr val="dk1"/>
                </a:solidFill>
                <a:latin typeface="Aptos Display"/>
              </a:rPr>
              <a:t> – UMG- </a:t>
            </a:r>
            <a:r>
              <a:rPr lang="en" sz="2000" b="1" err="1">
                <a:solidFill>
                  <a:schemeClr val="dk1"/>
                </a:solidFill>
                <a:latin typeface="Aptos Display"/>
              </a:rPr>
              <a:t>Modernising</a:t>
            </a:r>
            <a:r>
              <a:rPr lang="en" sz="2000" b="1">
                <a:solidFill>
                  <a:schemeClr val="dk1"/>
                </a:solidFill>
                <a:latin typeface="Aptos Display"/>
              </a:rPr>
              <a:t> the Shopify stack</a:t>
            </a:r>
          </a:p>
        </p:txBody>
      </p:sp>
      <p:grpSp>
        <p:nvGrpSpPr>
          <p:cNvPr id="6" name="Group 5">
            <a:extLst>
              <a:ext uri="{FF2B5EF4-FFF2-40B4-BE49-F238E27FC236}">
                <a16:creationId xmlns:a16="http://schemas.microsoft.com/office/drawing/2014/main" id="{09F6EA55-23D7-E266-2A5D-48CD2CDCA009}"/>
              </a:ext>
            </a:extLst>
          </p:cNvPr>
          <p:cNvGrpSpPr/>
          <p:nvPr/>
        </p:nvGrpSpPr>
        <p:grpSpPr>
          <a:xfrm>
            <a:off x="7334408" y="1873804"/>
            <a:ext cx="4690310" cy="1455784"/>
            <a:chOff x="7334408" y="1873804"/>
            <a:chExt cx="4690310" cy="1455784"/>
          </a:xfrm>
        </p:grpSpPr>
        <p:sp>
          <p:nvSpPr>
            <p:cNvPr id="17" name="Google Shape;56;p13">
              <a:extLst>
                <a:ext uri="{FF2B5EF4-FFF2-40B4-BE49-F238E27FC236}">
                  <a16:creationId xmlns:a16="http://schemas.microsoft.com/office/drawing/2014/main" id="{773C3AAD-B480-6651-F80E-81524F1B29C4}"/>
                </a:ext>
              </a:extLst>
            </p:cNvPr>
            <p:cNvSpPr txBox="1"/>
            <p:nvPr/>
          </p:nvSpPr>
          <p:spPr>
            <a:xfrm>
              <a:off x="7335694" y="1873804"/>
              <a:ext cx="3479760" cy="247760"/>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just" rtl="0">
                <a:lnSpc>
                  <a:spcPct val="115000"/>
                </a:lnSpc>
                <a:spcBef>
                  <a:spcPts val="0"/>
                </a:spcBef>
                <a:spcAft>
                  <a:spcPts val="0"/>
                </a:spcAft>
                <a:buNone/>
              </a:pPr>
              <a:r>
                <a:rPr lang="en-IN" sz="1400" b="1">
                  <a:solidFill>
                    <a:schemeClr val="dk1"/>
                  </a:solidFill>
                  <a:latin typeface="+mj-lt"/>
                  <a:ea typeface="Verdana"/>
                  <a:cs typeface="Verdana"/>
                  <a:sym typeface="Verdana"/>
                </a:rPr>
                <a:t>Benefits</a:t>
              </a:r>
              <a:endParaRPr lang="en-IN" sz="1050">
                <a:solidFill>
                  <a:schemeClr val="dk1"/>
                </a:solidFill>
                <a:latin typeface="+mj-lt"/>
                <a:ea typeface="Karla"/>
                <a:cs typeface="Karla"/>
                <a:sym typeface="Karla"/>
              </a:endParaRPr>
            </a:p>
          </p:txBody>
        </p:sp>
        <p:sp>
          <p:nvSpPr>
            <p:cNvPr id="18" name="Google Shape;56;p13">
              <a:extLst>
                <a:ext uri="{FF2B5EF4-FFF2-40B4-BE49-F238E27FC236}">
                  <a16:creationId xmlns:a16="http://schemas.microsoft.com/office/drawing/2014/main" id="{4C092188-F9D6-0F9A-8910-3130B775973D}"/>
                </a:ext>
              </a:extLst>
            </p:cNvPr>
            <p:cNvSpPr txBox="1"/>
            <p:nvPr/>
          </p:nvSpPr>
          <p:spPr>
            <a:xfrm>
              <a:off x="7334408" y="2221592"/>
              <a:ext cx="4690310" cy="1107996"/>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a:buChar char="•"/>
              </a:pPr>
              <a:r>
                <a:rPr lang="en-US" sz="1200" b="1">
                  <a:ea typeface="+mn-lt"/>
                  <a:cs typeface="+mn-lt"/>
                </a:rPr>
                <a:t>Scalable infrastructure</a:t>
              </a:r>
              <a:r>
                <a:rPr lang="en-US" sz="1200">
                  <a:ea typeface="+mn-lt"/>
                  <a:cs typeface="+mn-lt"/>
                </a:rPr>
                <a:t> supporting over 900 artist stores</a:t>
              </a:r>
              <a:endParaRPr lang="en-US" sz="1200"/>
            </a:p>
            <a:p>
              <a:pPr marL="171450" indent="-171450">
                <a:buFont typeface="Arial"/>
                <a:buChar char="•"/>
              </a:pPr>
              <a:r>
                <a:rPr lang="en-US" sz="1200" b="1">
                  <a:ea typeface="+mn-lt"/>
                  <a:cs typeface="+mn-lt"/>
                </a:rPr>
                <a:t>Consistent, branded experiences</a:t>
              </a:r>
              <a:r>
                <a:rPr lang="en-US" sz="1200">
                  <a:ea typeface="+mn-lt"/>
                  <a:cs typeface="+mn-lt"/>
                </a:rPr>
                <a:t> for fans across all stores</a:t>
              </a:r>
              <a:endParaRPr lang="en-US"/>
            </a:p>
            <a:p>
              <a:pPr marL="171450" indent="-171450">
                <a:buFont typeface="Arial"/>
                <a:buChar char="•"/>
              </a:pPr>
              <a:r>
                <a:rPr lang="en-US" sz="1200" b="1">
                  <a:ea typeface="+mn-lt"/>
                  <a:cs typeface="+mn-lt"/>
                </a:rPr>
                <a:t>Enhanced legal compliance</a:t>
              </a:r>
              <a:r>
                <a:rPr lang="en-US" sz="1200">
                  <a:ea typeface="+mn-lt"/>
                  <a:cs typeface="+mn-lt"/>
                </a:rPr>
                <a:t>, reducing risk by over 70%</a:t>
              </a:r>
              <a:endParaRPr lang="en-US">
                <a:ea typeface="+mn-lt"/>
                <a:cs typeface="+mn-lt"/>
              </a:endParaRPr>
            </a:p>
            <a:p>
              <a:pPr marL="171450" indent="-171450">
                <a:buFont typeface="Arial"/>
                <a:buChar char="•"/>
              </a:pPr>
              <a:r>
                <a:rPr lang="en-US" sz="1200" b="1">
                  <a:ea typeface="+mn-lt"/>
                  <a:cs typeface="+mn-lt"/>
                </a:rPr>
                <a:t>Improved conversion rates</a:t>
              </a:r>
              <a:r>
                <a:rPr lang="en-US" sz="1200">
                  <a:ea typeface="+mn-lt"/>
                  <a:cs typeface="+mn-lt"/>
                </a:rPr>
                <a:t>  (up by 20%) and fan engagement through personalization</a:t>
              </a:r>
              <a:endParaRPr lang="en-US"/>
            </a:p>
            <a:p>
              <a:pPr marL="171450" indent="-171450">
                <a:buFont typeface="Arial"/>
                <a:buChar char="•"/>
              </a:pPr>
              <a:endParaRPr lang="en-US" sz="1200"/>
            </a:p>
          </p:txBody>
        </p:sp>
      </p:grpSp>
      <p:sp>
        <p:nvSpPr>
          <p:cNvPr id="7" name="Google Shape;56;p13">
            <a:extLst>
              <a:ext uri="{FF2B5EF4-FFF2-40B4-BE49-F238E27FC236}">
                <a16:creationId xmlns:a16="http://schemas.microsoft.com/office/drawing/2014/main" id="{EEAE063F-BB85-9905-8310-69FCD436CF0D}"/>
              </a:ext>
            </a:extLst>
          </p:cNvPr>
          <p:cNvSpPr txBox="1"/>
          <p:nvPr/>
        </p:nvSpPr>
        <p:spPr>
          <a:xfrm>
            <a:off x="292546" y="2299465"/>
            <a:ext cx="5668432" cy="1107996"/>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a:buChar char="•"/>
            </a:pPr>
            <a:r>
              <a:rPr lang="en-US" sz="1200" b="1">
                <a:solidFill>
                  <a:schemeClr val="dk1"/>
                </a:solidFill>
                <a:ea typeface="+mn-lt"/>
                <a:cs typeface="+mn-lt"/>
              </a:rPr>
              <a:t>Legacy system limitations</a:t>
            </a:r>
            <a:r>
              <a:rPr lang="en-US" sz="1200">
                <a:solidFill>
                  <a:schemeClr val="dk1"/>
                </a:solidFill>
                <a:ea typeface="+mn-lt"/>
                <a:cs typeface="+mn-lt"/>
              </a:rPr>
              <a:t> with fragmented workflows and outdated themes</a:t>
            </a:r>
          </a:p>
          <a:p>
            <a:pPr marL="171450" indent="-171450">
              <a:buFont typeface="Arial"/>
              <a:buChar char="•"/>
            </a:pPr>
            <a:r>
              <a:rPr lang="en-US" sz="1200">
                <a:solidFill>
                  <a:schemeClr val="dk1"/>
                </a:solidFill>
                <a:ea typeface="+mn-lt"/>
                <a:cs typeface="+mn-lt"/>
              </a:rPr>
              <a:t>Need for </a:t>
            </a:r>
            <a:r>
              <a:rPr lang="en-US" sz="1200" b="1">
                <a:solidFill>
                  <a:schemeClr val="dk1"/>
                </a:solidFill>
                <a:ea typeface="+mn-lt"/>
                <a:cs typeface="+mn-lt"/>
              </a:rPr>
              <a:t>centralized management</a:t>
            </a:r>
            <a:r>
              <a:rPr lang="en-US" sz="1200">
                <a:solidFill>
                  <a:schemeClr val="dk1"/>
                </a:solidFill>
                <a:ea typeface="+mn-lt"/>
                <a:cs typeface="+mn-lt"/>
              </a:rPr>
              <a:t> across 900+ stores</a:t>
            </a:r>
            <a:endParaRPr lang="en-US">
              <a:solidFill>
                <a:schemeClr val="dk1"/>
              </a:solidFill>
              <a:ea typeface="+mn-lt"/>
              <a:cs typeface="+mn-lt"/>
            </a:endParaRPr>
          </a:p>
          <a:p>
            <a:pPr marL="171450" indent="-171450">
              <a:buFont typeface="Arial"/>
              <a:buChar char="•"/>
            </a:pPr>
            <a:r>
              <a:rPr lang="en-US" sz="1200" b="1">
                <a:solidFill>
                  <a:schemeClr val="dk1"/>
                </a:solidFill>
                <a:ea typeface="+mn-lt"/>
                <a:cs typeface="+mn-lt"/>
              </a:rPr>
              <a:t>Inconsistent user experiences</a:t>
            </a:r>
            <a:r>
              <a:rPr lang="en-US" sz="1200">
                <a:solidFill>
                  <a:schemeClr val="dk1"/>
                </a:solidFill>
                <a:ea typeface="+mn-lt"/>
                <a:cs typeface="+mn-lt"/>
              </a:rPr>
              <a:t> across artist stores</a:t>
            </a:r>
            <a:endParaRPr lang="en-US">
              <a:solidFill>
                <a:schemeClr val="dk1"/>
              </a:solidFill>
              <a:ea typeface="+mn-lt"/>
              <a:cs typeface="+mn-lt"/>
            </a:endParaRPr>
          </a:p>
          <a:p>
            <a:pPr marL="171450" indent="-171450">
              <a:buFont typeface="Arial"/>
              <a:buChar char="•"/>
            </a:pPr>
            <a:r>
              <a:rPr lang="en-US" sz="1200">
                <a:solidFill>
                  <a:schemeClr val="dk1"/>
                </a:solidFill>
                <a:ea typeface="+mn-lt"/>
                <a:cs typeface="+mn-lt"/>
              </a:rPr>
              <a:t>Demand for </a:t>
            </a:r>
            <a:r>
              <a:rPr lang="en-US" sz="1200" b="1">
                <a:solidFill>
                  <a:schemeClr val="dk1"/>
                </a:solidFill>
                <a:ea typeface="+mn-lt"/>
                <a:cs typeface="+mn-lt"/>
              </a:rPr>
              <a:t>custom functionalities</a:t>
            </a:r>
            <a:r>
              <a:rPr lang="en-US" sz="1200">
                <a:solidFill>
                  <a:schemeClr val="dk1"/>
                </a:solidFill>
                <a:ea typeface="+mn-lt"/>
                <a:cs typeface="+mn-lt"/>
              </a:rPr>
              <a:t> like subscriptions, auctions, localized features</a:t>
            </a:r>
            <a:endParaRPr lang="en-US">
              <a:solidFill>
                <a:schemeClr val="dk1"/>
              </a:solidFill>
              <a:ea typeface="+mn-lt"/>
              <a:cs typeface="+mn-lt"/>
            </a:endParaRPr>
          </a:p>
          <a:p>
            <a:pPr marL="171450" indent="-171450">
              <a:buFont typeface="Arial"/>
              <a:buChar char="•"/>
            </a:pPr>
            <a:r>
              <a:rPr lang="en-US" sz="1200">
                <a:solidFill>
                  <a:schemeClr val="dk1"/>
                </a:solidFill>
                <a:ea typeface="+mn-lt"/>
                <a:cs typeface="+mn-lt"/>
              </a:rPr>
              <a:t>Lack of </a:t>
            </a:r>
            <a:r>
              <a:rPr lang="en-US" sz="1200" b="1">
                <a:solidFill>
                  <a:schemeClr val="dk1"/>
                </a:solidFill>
                <a:ea typeface="+mn-lt"/>
                <a:cs typeface="+mn-lt"/>
              </a:rPr>
              <a:t>compliance with FTC &amp; ADA</a:t>
            </a:r>
            <a:r>
              <a:rPr lang="en-US" sz="1200">
                <a:solidFill>
                  <a:schemeClr val="dk1"/>
                </a:solidFill>
                <a:ea typeface="+mn-lt"/>
                <a:cs typeface="+mn-lt"/>
              </a:rPr>
              <a:t> standards</a:t>
            </a:r>
            <a:endParaRPr lang="en-US">
              <a:solidFill>
                <a:schemeClr val="dk1"/>
              </a:solidFill>
              <a:ea typeface="+mn-lt"/>
              <a:cs typeface="+mn-lt"/>
            </a:endParaRPr>
          </a:p>
          <a:p>
            <a:pPr marL="171450" indent="-171450">
              <a:buFont typeface="Arial"/>
              <a:buChar char="•"/>
            </a:pPr>
            <a:r>
              <a:rPr lang="en-US" sz="1200">
                <a:solidFill>
                  <a:schemeClr val="dk1"/>
                </a:solidFill>
                <a:ea typeface="+mn-lt"/>
                <a:cs typeface="+mn-lt"/>
              </a:rPr>
              <a:t>Difficulty in </a:t>
            </a:r>
            <a:r>
              <a:rPr lang="en-US" sz="1200" b="1">
                <a:solidFill>
                  <a:schemeClr val="dk1"/>
                </a:solidFill>
                <a:ea typeface="+mn-lt"/>
                <a:cs typeface="+mn-lt"/>
              </a:rPr>
              <a:t>aggregating data</a:t>
            </a:r>
            <a:r>
              <a:rPr lang="en-US" sz="1200">
                <a:solidFill>
                  <a:schemeClr val="dk1"/>
                </a:solidFill>
                <a:ea typeface="+mn-lt"/>
                <a:cs typeface="+mn-lt"/>
              </a:rPr>
              <a:t> across stores for analytics and decision-making</a:t>
            </a:r>
          </a:p>
        </p:txBody>
      </p:sp>
      <p:sp>
        <p:nvSpPr>
          <p:cNvPr id="8" name="TextBox 9">
            <a:extLst>
              <a:ext uri="{FF2B5EF4-FFF2-40B4-BE49-F238E27FC236}">
                <a16:creationId xmlns:a16="http://schemas.microsoft.com/office/drawing/2014/main" id="{12F10F12-B59A-397C-4AF4-A3744BF38BC0}"/>
              </a:ext>
            </a:extLst>
          </p:cNvPr>
          <p:cNvSpPr txBox="1"/>
          <p:nvPr/>
        </p:nvSpPr>
        <p:spPr>
          <a:xfrm>
            <a:off x="267881" y="1875147"/>
            <a:ext cx="958339" cy="307777"/>
          </a:xfrm>
          <a:prstGeom prst="rect">
            <a:avLst/>
          </a:prstGeom>
          <a:noFill/>
        </p:spPr>
        <p:txBody>
          <a:bodyPr wrap="none" rtlCol="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1400" b="1">
                <a:solidFill>
                  <a:schemeClr val="dk1"/>
                </a:solidFill>
                <a:latin typeface="+mj-lt"/>
                <a:ea typeface="Verdana"/>
                <a:cs typeface="Verdana"/>
                <a:sym typeface="Verdana"/>
              </a:rPr>
              <a:t>Challenge</a:t>
            </a:r>
            <a:endParaRPr lang="en-IN" sz="1400">
              <a:latin typeface="+mj-lt"/>
            </a:endParaRPr>
          </a:p>
        </p:txBody>
      </p:sp>
      <p:grpSp>
        <p:nvGrpSpPr>
          <p:cNvPr id="9" name="Group 8">
            <a:extLst>
              <a:ext uri="{FF2B5EF4-FFF2-40B4-BE49-F238E27FC236}">
                <a16:creationId xmlns:a16="http://schemas.microsoft.com/office/drawing/2014/main" id="{C8849E4B-4264-2789-F535-E70C39ADB38E}"/>
              </a:ext>
            </a:extLst>
          </p:cNvPr>
          <p:cNvGrpSpPr/>
          <p:nvPr/>
        </p:nvGrpSpPr>
        <p:grpSpPr>
          <a:xfrm>
            <a:off x="269639" y="3513193"/>
            <a:ext cx="6679277" cy="1717898"/>
            <a:chOff x="269639" y="3755240"/>
            <a:chExt cx="6679277" cy="1717898"/>
          </a:xfrm>
        </p:grpSpPr>
        <p:sp>
          <p:nvSpPr>
            <p:cNvPr id="15" name="Google Shape;56;p13">
              <a:extLst>
                <a:ext uri="{FF2B5EF4-FFF2-40B4-BE49-F238E27FC236}">
                  <a16:creationId xmlns:a16="http://schemas.microsoft.com/office/drawing/2014/main" id="{C0025218-0537-2010-C5B7-D07A87C28D5A}"/>
                </a:ext>
              </a:extLst>
            </p:cNvPr>
            <p:cNvSpPr txBox="1"/>
            <p:nvPr/>
          </p:nvSpPr>
          <p:spPr>
            <a:xfrm>
              <a:off x="296555" y="4180476"/>
              <a:ext cx="6652361" cy="1292662"/>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a:buChar char="•"/>
              </a:pPr>
              <a:r>
                <a:rPr lang="en-US" sz="1200">
                  <a:ea typeface="+mn-lt"/>
                  <a:cs typeface="+mn-lt"/>
                </a:rPr>
                <a:t> Built and maintained a personalized Shopify architecture tailored to UMG’s operational needs</a:t>
              </a:r>
              <a:endParaRPr lang="en-US" sz="1200"/>
            </a:p>
            <a:p>
              <a:pPr marL="171450" indent="-171450">
                <a:buFont typeface="Arial"/>
                <a:buChar char="•"/>
              </a:pPr>
              <a:r>
                <a:rPr lang="en-US" sz="1200">
                  <a:ea typeface="+mn-lt"/>
                  <a:cs typeface="+mn-lt"/>
                </a:rPr>
                <a:t> Stabilized and upgraded existing themes with React-powered experiences and UI customizations</a:t>
              </a:r>
              <a:endParaRPr lang="en-US"/>
            </a:p>
            <a:p>
              <a:pPr marL="171450" indent="-171450">
                <a:buFont typeface="Arial"/>
                <a:buChar char="•"/>
              </a:pPr>
              <a:r>
                <a:rPr lang="en-US" sz="1200">
                  <a:ea typeface="+mn-lt"/>
                  <a:cs typeface="+mn-lt"/>
                </a:rPr>
                <a:t> Developed apps for subscriptions, auctions, bundles, localized shipping, and multilingual search</a:t>
              </a:r>
              <a:endParaRPr lang="en-US"/>
            </a:p>
            <a:p>
              <a:pPr marL="171450" indent="-171450">
                <a:buFont typeface="Arial"/>
                <a:buChar char="•"/>
              </a:pPr>
              <a:r>
                <a:rPr lang="en-US" sz="1200">
                  <a:ea typeface="+mn-lt"/>
                  <a:cs typeface="+mn-lt"/>
                </a:rPr>
                <a:t> Centralized control of features and store updates</a:t>
              </a:r>
              <a:endParaRPr lang="en-US"/>
            </a:p>
            <a:p>
              <a:pPr marL="171450" indent="-171450">
                <a:buFont typeface="Arial"/>
                <a:buChar char="•"/>
              </a:pPr>
              <a:r>
                <a:rPr lang="en-US" sz="1200">
                  <a:ea typeface="+mn-lt"/>
                  <a:cs typeface="+mn-lt"/>
                </a:rPr>
                <a:t> Used a Node.js app to migrate </a:t>
              </a:r>
              <a:r>
                <a:rPr lang="en-US" sz="1200" b="1">
                  <a:ea typeface="+mn-lt"/>
                  <a:cs typeface="+mn-lt"/>
                </a:rPr>
                <a:t>40,000 products</a:t>
              </a:r>
              <a:r>
                <a:rPr lang="en-US" sz="1200">
                  <a:ea typeface="+mn-lt"/>
                  <a:cs typeface="+mn-lt"/>
                </a:rPr>
                <a:t> from Magento to Shopify</a:t>
              </a:r>
              <a:endParaRPr lang="en-US"/>
            </a:p>
            <a:p>
              <a:pPr marL="171450" indent="-171450">
                <a:buFont typeface="Arial"/>
                <a:buChar char="•"/>
              </a:pPr>
              <a:r>
                <a:rPr lang="en-US" sz="1200">
                  <a:ea typeface="+mn-lt"/>
                  <a:cs typeface="+mn-lt"/>
                </a:rPr>
                <a:t> Rolled out FTC and ADA compliance features across all stores in collaboration with legal teams</a:t>
              </a:r>
              <a:endParaRPr lang="en-US"/>
            </a:p>
            <a:p>
              <a:pPr marL="171450" indent="-171450">
                <a:buFont typeface="Arial"/>
                <a:buChar char="•"/>
              </a:pPr>
              <a:r>
                <a:rPr lang="en-US" sz="1200">
                  <a:ea typeface="+mn-lt"/>
                  <a:cs typeface="+mn-lt"/>
                </a:rPr>
                <a:t> Implemented a </a:t>
              </a:r>
              <a:r>
                <a:rPr lang="en-US" sz="1200" b="1">
                  <a:ea typeface="+mn-lt"/>
                  <a:cs typeface="+mn-lt"/>
                </a:rPr>
                <a:t>GTM data layer</a:t>
              </a:r>
              <a:r>
                <a:rPr lang="en-US" sz="1200">
                  <a:ea typeface="+mn-lt"/>
                  <a:cs typeface="+mn-lt"/>
                </a:rPr>
                <a:t> for unified tracking and analytics across the entire store network</a:t>
              </a:r>
              <a:endParaRPr lang="en-US"/>
            </a:p>
          </p:txBody>
        </p:sp>
        <p:sp>
          <p:nvSpPr>
            <p:cNvPr id="16" name="TextBox 11">
              <a:extLst>
                <a:ext uri="{FF2B5EF4-FFF2-40B4-BE49-F238E27FC236}">
                  <a16:creationId xmlns:a16="http://schemas.microsoft.com/office/drawing/2014/main" id="{3B977F67-56AA-EE67-68CE-3E46B7FB0188}"/>
                </a:ext>
              </a:extLst>
            </p:cNvPr>
            <p:cNvSpPr txBox="1"/>
            <p:nvPr/>
          </p:nvSpPr>
          <p:spPr>
            <a:xfrm>
              <a:off x="269639" y="3755240"/>
              <a:ext cx="856325" cy="307777"/>
            </a:xfrm>
            <a:prstGeom prst="rect">
              <a:avLst/>
            </a:prstGeom>
            <a:noFill/>
          </p:spPr>
          <p:txBody>
            <a:bodyPr wrap="none" rtlCol="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a:solidFill>
                    <a:schemeClr val="dk1"/>
                  </a:solidFill>
                  <a:latin typeface="+mj-lt"/>
                  <a:ea typeface="Verdana"/>
                  <a:cs typeface="Verdana"/>
                  <a:sym typeface="Verdana"/>
                </a:rPr>
                <a:t>Solution </a:t>
              </a:r>
              <a:endParaRPr lang="en-IN" sz="1400">
                <a:solidFill>
                  <a:schemeClr val="dk1"/>
                </a:solidFill>
                <a:latin typeface="+mj-lt"/>
                <a:ea typeface="Karla"/>
                <a:cs typeface="Karla"/>
                <a:sym typeface="Karla"/>
              </a:endParaRPr>
            </a:p>
          </p:txBody>
        </p:sp>
      </p:grpSp>
      <p:sp>
        <p:nvSpPr>
          <p:cNvPr id="10" name="Google Shape;56;p13">
            <a:extLst>
              <a:ext uri="{FF2B5EF4-FFF2-40B4-BE49-F238E27FC236}">
                <a16:creationId xmlns:a16="http://schemas.microsoft.com/office/drawing/2014/main" id="{019991EE-5594-40D1-7635-10D3A6F56987}"/>
              </a:ext>
            </a:extLst>
          </p:cNvPr>
          <p:cNvSpPr txBox="1"/>
          <p:nvPr/>
        </p:nvSpPr>
        <p:spPr>
          <a:xfrm>
            <a:off x="267612" y="1217858"/>
            <a:ext cx="11589858" cy="553998"/>
          </a:xfrm>
          <a:prstGeom prst="rect">
            <a:avLst/>
          </a:prstGeom>
          <a:noFill/>
          <a:ln>
            <a:noFill/>
          </a:ln>
        </p:spPr>
        <p:txBody>
          <a:bodyPr spcFirstLastPara="1" wrap="square" lIns="0" tIns="0" rIns="0" bIns="0" anchor="t" anchorCtr="0">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 sz="1200">
                <a:solidFill>
                  <a:schemeClr val="dk1"/>
                </a:solidFill>
                <a:ea typeface="+mn-lt"/>
                <a:cs typeface="+mn-lt"/>
              </a:rPr>
              <a:t>Since </a:t>
            </a:r>
            <a:r>
              <a:rPr lang="en" sz="1200" b="1">
                <a:solidFill>
                  <a:schemeClr val="dk1"/>
                </a:solidFill>
                <a:ea typeface="+mn-lt"/>
                <a:cs typeface="+mn-lt"/>
              </a:rPr>
              <a:t>2019</a:t>
            </a:r>
            <a:r>
              <a:rPr lang="en" sz="1200">
                <a:solidFill>
                  <a:schemeClr val="dk1"/>
                </a:solidFill>
                <a:ea typeface="+mn-lt"/>
                <a:cs typeface="+mn-lt"/>
              </a:rPr>
              <a:t>, Sedin has partnered with UMG’s </a:t>
            </a:r>
            <a:r>
              <a:rPr lang="en" sz="1200" b="1">
                <a:solidFill>
                  <a:schemeClr val="dk1"/>
                </a:solidFill>
                <a:ea typeface="+mn-lt"/>
                <a:cs typeface="+mn-lt"/>
              </a:rPr>
              <a:t>COO and CIO</a:t>
            </a:r>
            <a:r>
              <a:rPr lang="en" sz="1200">
                <a:solidFill>
                  <a:schemeClr val="dk1"/>
                </a:solidFill>
                <a:ea typeface="+mn-lt"/>
                <a:cs typeface="+mn-lt"/>
              </a:rPr>
              <a:t> to develop and manage a </a:t>
            </a:r>
            <a:r>
              <a:rPr lang="en" sz="1200" b="1">
                <a:solidFill>
                  <a:schemeClr val="dk1"/>
                </a:solidFill>
                <a:ea typeface="+mn-lt"/>
                <a:cs typeface="+mn-lt"/>
              </a:rPr>
              <a:t>robust Shopify tech stack</a:t>
            </a:r>
            <a:r>
              <a:rPr lang="en" sz="1200">
                <a:solidFill>
                  <a:schemeClr val="dk1"/>
                </a:solidFill>
                <a:ea typeface="+mn-lt"/>
                <a:cs typeface="+mn-lt"/>
              </a:rPr>
              <a:t>, enabling scalable, customized commerce experiences for their artist stores. The engagement spanned across Shopify 1.0 and 2.0 eras, ensuring both technical stability and innovation. By repetitive, impactful discoveries and client meetings, Sedin has managed to create long standing trust.  </a:t>
            </a:r>
            <a:endParaRPr lang="en" sz="1200">
              <a:solidFill>
                <a:schemeClr val="dk1"/>
              </a:solidFill>
            </a:endParaRPr>
          </a:p>
        </p:txBody>
      </p:sp>
      <p:sp>
        <p:nvSpPr>
          <p:cNvPr id="12" name="TextBox 12">
            <a:extLst>
              <a:ext uri="{FF2B5EF4-FFF2-40B4-BE49-F238E27FC236}">
                <a16:creationId xmlns:a16="http://schemas.microsoft.com/office/drawing/2014/main" id="{F1F7AAFC-53A3-348D-04CF-F3B3E614319A}"/>
              </a:ext>
            </a:extLst>
          </p:cNvPr>
          <p:cNvSpPr txBox="1"/>
          <p:nvPr/>
        </p:nvSpPr>
        <p:spPr>
          <a:xfrm>
            <a:off x="269577" y="5690052"/>
            <a:ext cx="1183401" cy="307777"/>
          </a:xfrm>
          <a:prstGeom prst="rect">
            <a:avLst/>
          </a:prstGeom>
          <a:noFill/>
        </p:spPr>
        <p:txBody>
          <a:bodyPr wrap="none" lIns="91440" tIns="45720" rIns="91440" bIns="45720" rtlCol="0" anchor="t">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a:solidFill>
                  <a:schemeClr val="dk1"/>
                </a:solidFill>
                <a:latin typeface="+mj-lt"/>
                <a:ea typeface="Verdana"/>
                <a:cs typeface="Karla"/>
                <a:sym typeface="Verdana"/>
              </a:rPr>
              <a:t>Technologies</a:t>
            </a:r>
            <a:endParaRPr lang="en-IN" sz="1400">
              <a:solidFill>
                <a:schemeClr val="dk1"/>
              </a:solidFill>
              <a:latin typeface="+mj-lt"/>
              <a:ea typeface="Karla"/>
              <a:cs typeface="Karla"/>
              <a:sym typeface="Karla"/>
            </a:endParaRPr>
          </a:p>
        </p:txBody>
      </p:sp>
      <p:pic>
        <p:nvPicPr>
          <p:cNvPr id="2" name="Picture 1" descr="A black text on a white background&#10;&#10;AI-generated content may be incorrect.">
            <a:extLst>
              <a:ext uri="{FF2B5EF4-FFF2-40B4-BE49-F238E27FC236}">
                <a16:creationId xmlns:a16="http://schemas.microsoft.com/office/drawing/2014/main" id="{6F33012B-FA47-488A-C2B2-2F775A0D5EEF}"/>
              </a:ext>
            </a:extLst>
          </p:cNvPr>
          <p:cNvPicPr>
            <a:picLocks noChangeAspect="1"/>
          </p:cNvPicPr>
          <p:nvPr/>
        </p:nvPicPr>
        <p:blipFill>
          <a:blip r:embed="rId3"/>
          <a:stretch>
            <a:fillRect/>
          </a:stretch>
        </p:blipFill>
        <p:spPr>
          <a:xfrm>
            <a:off x="331033" y="6181233"/>
            <a:ext cx="893164" cy="322961"/>
          </a:xfrm>
          <a:prstGeom prst="rect">
            <a:avLst/>
          </a:prstGeom>
        </p:spPr>
      </p:pic>
      <p:pic>
        <p:nvPicPr>
          <p:cNvPr id="3" name="Picture 2" descr="A black text on a white background&#10;&#10;AI-generated content may be incorrect.">
            <a:extLst>
              <a:ext uri="{FF2B5EF4-FFF2-40B4-BE49-F238E27FC236}">
                <a16:creationId xmlns:a16="http://schemas.microsoft.com/office/drawing/2014/main" id="{AF22E25A-CA78-AFB4-D7A5-DFE6E408C751}"/>
              </a:ext>
            </a:extLst>
          </p:cNvPr>
          <p:cNvPicPr>
            <a:picLocks noChangeAspect="1"/>
          </p:cNvPicPr>
          <p:nvPr/>
        </p:nvPicPr>
        <p:blipFill>
          <a:blip r:embed="rId4"/>
          <a:stretch>
            <a:fillRect/>
          </a:stretch>
        </p:blipFill>
        <p:spPr>
          <a:xfrm>
            <a:off x="1225134" y="6179070"/>
            <a:ext cx="1034946" cy="314794"/>
          </a:xfrm>
          <a:prstGeom prst="rect">
            <a:avLst/>
          </a:prstGeom>
        </p:spPr>
      </p:pic>
      <p:pic>
        <p:nvPicPr>
          <p:cNvPr id="19" name="Picture 18" descr="A blue logo with a white background&#10;&#10;AI-generated content may be incorrect.">
            <a:extLst>
              <a:ext uri="{FF2B5EF4-FFF2-40B4-BE49-F238E27FC236}">
                <a16:creationId xmlns:a16="http://schemas.microsoft.com/office/drawing/2014/main" id="{6CB6262D-DBA5-3421-0DF3-A372903F0844}"/>
              </a:ext>
            </a:extLst>
          </p:cNvPr>
          <p:cNvPicPr>
            <a:picLocks noChangeAspect="1"/>
          </p:cNvPicPr>
          <p:nvPr/>
        </p:nvPicPr>
        <p:blipFill>
          <a:blip r:embed="rId5"/>
          <a:stretch>
            <a:fillRect/>
          </a:stretch>
        </p:blipFill>
        <p:spPr>
          <a:xfrm>
            <a:off x="2263046" y="6179850"/>
            <a:ext cx="876613" cy="331972"/>
          </a:xfrm>
          <a:prstGeom prst="rect">
            <a:avLst/>
          </a:prstGeom>
        </p:spPr>
      </p:pic>
      <p:pic>
        <p:nvPicPr>
          <p:cNvPr id="20" name="Picture 19" descr="A group of black and green hexagons&#10;&#10;AI-generated content may be incorrect.">
            <a:extLst>
              <a:ext uri="{FF2B5EF4-FFF2-40B4-BE49-F238E27FC236}">
                <a16:creationId xmlns:a16="http://schemas.microsoft.com/office/drawing/2014/main" id="{811D6C8E-2DE5-6289-083B-214BCA28EA42}"/>
              </a:ext>
            </a:extLst>
          </p:cNvPr>
          <p:cNvPicPr>
            <a:picLocks noChangeAspect="1"/>
          </p:cNvPicPr>
          <p:nvPr/>
        </p:nvPicPr>
        <p:blipFill>
          <a:blip r:embed="rId6"/>
          <a:stretch>
            <a:fillRect/>
          </a:stretch>
        </p:blipFill>
        <p:spPr>
          <a:xfrm>
            <a:off x="3249274" y="6121607"/>
            <a:ext cx="1052747" cy="454703"/>
          </a:xfrm>
          <a:prstGeom prst="rect">
            <a:avLst/>
          </a:prstGeom>
        </p:spPr>
      </p:pic>
      <p:pic>
        <p:nvPicPr>
          <p:cNvPr id="11" name="Picture 10" descr="A group of people in a store&#10;&#10;AI-generated content may be incorrect.">
            <a:extLst>
              <a:ext uri="{FF2B5EF4-FFF2-40B4-BE49-F238E27FC236}">
                <a16:creationId xmlns:a16="http://schemas.microsoft.com/office/drawing/2014/main" id="{2D4BA936-DFAC-A1DB-D1D9-056EB21DBBA7}"/>
              </a:ext>
            </a:extLst>
          </p:cNvPr>
          <p:cNvPicPr>
            <a:picLocks noChangeAspect="1"/>
          </p:cNvPicPr>
          <p:nvPr/>
        </p:nvPicPr>
        <p:blipFill>
          <a:blip r:embed="rId7"/>
          <a:srcRect l="370" t="14384" b="2465"/>
          <a:stretch/>
        </p:blipFill>
        <p:spPr>
          <a:xfrm>
            <a:off x="7441580" y="3201580"/>
            <a:ext cx="4227657" cy="3522844"/>
          </a:xfrm>
          <a:prstGeom prst="rect">
            <a:avLst/>
          </a:prstGeom>
        </p:spPr>
      </p:pic>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BCC78793E79247A15D46A87E89F81B" ma:contentTypeVersion="16" ma:contentTypeDescription="Create a new document." ma:contentTypeScope="" ma:versionID="d142e8506837d0bae9c652f8d6ba7925">
  <xsd:schema xmlns:xsd="http://www.w3.org/2001/XMLSchema" xmlns:xs="http://www.w3.org/2001/XMLSchema" xmlns:p="http://schemas.microsoft.com/office/2006/metadata/properties" xmlns:ns1="http://schemas.microsoft.com/sharepoint/v3" xmlns:ns2="713a8f55-23a8-4f23-a9ea-510bc0cd49cc" targetNamespace="http://schemas.microsoft.com/office/2006/metadata/properties" ma:root="true" ma:fieldsID="ff88f66d146a897bf82702f48a5cefbe" ns1:_="" ns2:_="">
    <xsd:import namespace="http://schemas.microsoft.com/sharepoint/v3"/>
    <xsd:import namespace="713a8f55-23a8-4f23-a9ea-510bc0cd49cc"/>
    <xsd:element name="properties">
      <xsd:complexType>
        <xsd:sequence>
          <xsd:element name="documentManagement">
            <xsd:complexType>
              <xsd:all>
                <xsd:element ref="ns2:BU" minOccurs="0"/>
                <xsd:element ref="ns2:Service" minOccurs="0"/>
                <xsd:element ref="ns2:Domain" minOccurs="0"/>
                <xsd:element ref="ns2:Technology" minOccurs="0"/>
                <xsd:element ref="ns2:DocumentType" minOccurs="0"/>
                <xsd:element ref="ns2:DocumentDate" minOccurs="0"/>
                <xsd:element ref="ns2:MediaServiceMetadata" minOccurs="0"/>
                <xsd:element ref="ns2:MediaServiceFastMetadata" minOccurs="0"/>
                <xsd:element ref="ns2:MediaServiceSearchProperties" minOccurs="0"/>
                <xsd:element ref="ns2:MediaServiceObjectDetectorVersions" minOccurs="0"/>
                <xsd:element ref="ns2:Key_x0020_Point" minOccurs="0"/>
                <xsd:element ref="ns2:Industry" minOccurs="0"/>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21"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13a8f55-23a8-4f23-a9ea-510bc0cd49cc" elementFormDefault="qualified">
    <xsd:import namespace="http://schemas.microsoft.com/office/2006/documentManagement/types"/>
    <xsd:import namespace="http://schemas.microsoft.com/office/infopath/2007/PartnerControls"/>
    <xsd:element name="BU" ma:index="2" nillable="true" ma:displayName="BU" ma:description="Business Unit" ma:format="Dropdown" ma:list="af30c16a-7230-475d-a986-f5b3922b8bdb" ma:internalName="BU" ma:readOnly="false" ma:showField="BUMaster">
      <xsd:simpleType>
        <xsd:restriction base="dms:Lookup"/>
      </xsd:simpleType>
    </xsd:element>
    <xsd:element name="Service" ma:index="3" nillable="true" ma:displayName="Service" ma:format="Dropdown" ma:list="af30c16a-7230-475d-a986-f5b3922b8bdb" ma:internalName="Service" ma:readOnly="false" ma:showField="Services">
      <xsd:simpleType>
        <xsd:restriction base="dms:Lookup"/>
      </xsd:simpleType>
    </xsd:element>
    <xsd:element name="Domain" ma:index="4" nillable="true" ma:displayName="Domain" ma:format="Dropdown" ma:list="af30c16a-7230-475d-a986-f5b3922b8bdb" ma:internalName="Domain" ma:readOnly="false" ma:showField="Domains">
      <xsd:simpleType>
        <xsd:restriction base="dms:Lookup"/>
      </xsd:simpleType>
    </xsd:element>
    <xsd:element name="Technology" ma:index="5" nillable="true" ma:displayName="Technology" ma:format="Dropdown" ma:list="af30c16a-7230-475d-a986-f5b3922b8bdb" ma:internalName="Technology" ma:readOnly="false" ma:showField="Technology">
      <xsd:complexType>
        <xsd:complexContent>
          <xsd:extension base="dms:MultiChoiceLookup">
            <xsd:sequence>
              <xsd:element name="Value" type="dms:Lookup" maxOccurs="unbounded" minOccurs="0" nillable="true"/>
            </xsd:sequence>
          </xsd:extension>
        </xsd:complexContent>
      </xsd:complexType>
    </xsd:element>
    <xsd:element name="DocumentType" ma:index="6" nillable="true" ma:displayName="Document Type" ma:format="Dropdown" ma:list="af30c16a-7230-475d-a986-f5b3922b8bdb" ma:internalName="DocumentType" ma:readOnly="false" ma:showField="DocumentType">
      <xsd:simpleType>
        <xsd:restriction base="dms:Lookup"/>
      </xsd:simpleType>
    </xsd:element>
    <xsd:element name="DocumentDate" ma:index="13" nillable="true" ma:displayName="Document Date" ma:format="DateOnly" ma:internalName="DocumentDate">
      <xsd:simpleType>
        <xsd:restriction base="dms:DateTime"/>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Key_x0020_Point" ma:index="18" nillable="true" ma:displayName="Key Point" ma:description="Use this column to enter unique talking points for case" ma:internalName="Key_x0020_Point">
      <xsd:simpleType>
        <xsd:restriction base="dms:Note">
          <xsd:maxLength value="255"/>
        </xsd:restriction>
      </xsd:simpleType>
    </xsd:element>
    <xsd:element name="Industry" ma:index="19" nillable="true" ma:displayName="Industry" ma:format="Dropdown" ma:list="af30c16a-7230-475d-a986-f5b3922b8bdb" ma:internalName="Industry" ma:showField="Industry">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Customer Nam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rvice xmlns="713a8f55-23a8-4f23-a9ea-510bc0cd49cc" xsi:nil="true"/>
    <BU xmlns="713a8f55-23a8-4f23-a9ea-510bc0cd49cc">5</BU>
    <Key_x0020_Point xmlns="713a8f55-23a8-4f23-a9ea-510bc0cd49cc" xsi:nil="true"/>
    <Domain xmlns="713a8f55-23a8-4f23-a9ea-510bc0cd49cc">9</Domain>
    <DocumentType xmlns="713a8f55-23a8-4f23-a9ea-510bc0cd49cc">1</DocumentType>
    <PublishingExpirationDate xmlns="http://schemas.microsoft.com/sharepoint/v3" xsi:nil="true"/>
    <PublishingStartDate xmlns="http://schemas.microsoft.com/sharepoint/v3" xsi:nil="true"/>
    <DocumentDate xmlns="713a8f55-23a8-4f23-a9ea-510bc0cd49cc" xsi:nil="true"/>
    <Industry xmlns="713a8f55-23a8-4f23-a9ea-510bc0cd49cc">5</Industry>
    <Technology xmlns="713a8f55-23a8-4f23-a9ea-510bc0cd49cc">
      <Value>107</Value>
      <Value>67</Value>
      <Value>81</Value>
      <Value>94</Value>
    </Technology>
  </documentManagement>
</p:properties>
</file>

<file path=customXml/itemProps1.xml><?xml version="1.0" encoding="utf-8"?>
<ds:datastoreItem xmlns:ds="http://schemas.openxmlformats.org/officeDocument/2006/customXml" ds:itemID="{6A369571-D3E2-4829-B104-F50329E58D9D}"/>
</file>

<file path=customXml/itemProps2.xml><?xml version="1.0" encoding="utf-8"?>
<ds:datastoreItem xmlns:ds="http://schemas.openxmlformats.org/officeDocument/2006/customXml" ds:itemID="{4FB17B47-883A-4182-86D2-15E70B7621C6}"/>
</file>

<file path=customXml/itemProps3.xml><?xml version="1.0" encoding="utf-8"?>
<ds:datastoreItem xmlns:ds="http://schemas.openxmlformats.org/officeDocument/2006/customXml" ds:itemID="{5B210109-1B1A-42F0-BADB-21279B2D908B}"/>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2025-01-17T06:22:19Z</dcterms:created>
  <dcterms:modified xsi:type="dcterms:W3CDTF">2025-05-15T10:47:07Z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0x010100C8BCC78793E79247A15D46A87E89F81B</vt:lpwstr>
  </property>
  <property fmtid="{D5CDD505-2E9C-101B-9397-08002B2CF9AE}" pid="3" name="Order">
    <vt:r8>30100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